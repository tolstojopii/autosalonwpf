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6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2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031959" y="1235242"/>
            <a:ext cx="8229599" cy="1668379"/>
          </a:xfrm>
        </p:spPr>
        <p:txBody>
          <a:bodyPr/>
          <a:lstStyle/>
          <a:p>
            <a:r>
              <a:rPr lang="ru-RU" dirty="0" smtClean="0"/>
              <a:t>Авто-салон</a:t>
            </a:r>
            <a:endParaRPr lang="en-US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037145" y="5483233"/>
            <a:ext cx="8825658" cy="861420"/>
          </a:xfrm>
        </p:spPr>
        <p:txBody>
          <a:bodyPr/>
          <a:lstStyle/>
          <a:p>
            <a:r>
              <a:rPr lang="ru-RU" dirty="0" smtClean="0"/>
              <a:t>ОТ СТУДЕНТОВ КУРСКОГО ГОСУДАРСТВЕННОГО ПОЛИТЕХНИЧЕСКОГО КОЛЛЕДЖА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985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02105" y="0"/>
            <a:ext cx="8229599" cy="1668379"/>
          </a:xfrm>
        </p:spPr>
        <p:txBody>
          <a:bodyPr/>
          <a:lstStyle/>
          <a:p>
            <a:r>
              <a:rPr lang="ru-RU" b="1" dirty="0" smtClean="0"/>
              <a:t>Введение</a:t>
            </a:r>
            <a:endParaRPr lang="en-US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02105" y="2550695"/>
            <a:ext cx="11261558" cy="2654968"/>
          </a:xfrm>
        </p:spPr>
        <p:txBody>
          <a:bodyPr>
            <a:noAutofit/>
          </a:bodyPr>
          <a:lstStyle/>
          <a:p>
            <a:r>
              <a:rPr lang="ru-RU" sz="2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Данный проект представляет собой информационную систему для автосалона. В рамках анализа рассматриваются основные сущности предметной области: автомобили, клиенты, продажи, пользователи и справочники, а также и функциональные возможности, реализованные в приложении</a:t>
            </a:r>
            <a:endParaRPr lang="en-US" sz="2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331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83370" y="0"/>
            <a:ext cx="10090483" cy="1668379"/>
          </a:xfrm>
        </p:spPr>
        <p:txBody>
          <a:bodyPr/>
          <a:lstStyle/>
          <a:p>
            <a:r>
              <a:rPr lang="ru-RU" dirty="0" smtClean="0"/>
              <a:t>Участники команды</a:t>
            </a:r>
            <a:endParaRPr lang="en-US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521166" y="2141992"/>
            <a:ext cx="4884897" cy="1122207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 smtClean="0">
                <a:solidFill>
                  <a:schemeClr val="tx1">
                    <a:lumMod val="75000"/>
                  </a:schemeClr>
                </a:solidFill>
              </a:rPr>
              <a:t>Головин Александр Евгеньевич</a:t>
            </a:r>
            <a:endParaRPr lang="en-US" sz="2800" b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936001" y="3747925"/>
            <a:ext cx="4598525" cy="142838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ru-RU" sz="3200" b="1" dirty="0" smtClean="0">
                <a:solidFill>
                  <a:schemeClr val="tx1">
                    <a:lumMod val="75000"/>
                  </a:schemeClr>
                </a:solidFill>
              </a:rPr>
              <a:t>Жихарев </a:t>
            </a:r>
            <a:r>
              <a:rPr lang="ru-RU" sz="3200" b="1" dirty="0">
                <a:solidFill>
                  <a:schemeClr val="tx1">
                    <a:lumMod val="75000"/>
                  </a:schemeClr>
                </a:solidFill>
              </a:rPr>
              <a:t>Александр</a:t>
            </a:r>
            <a:r>
              <a:rPr lang="ru-RU" sz="3200" b="1" dirty="0" smtClean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ru-RU" sz="3200" b="1" dirty="0" err="1" smtClean="0">
                <a:solidFill>
                  <a:schemeClr val="tx1">
                    <a:lumMod val="75000"/>
                  </a:schemeClr>
                </a:solidFill>
              </a:rPr>
              <a:t>никитич</a:t>
            </a:r>
            <a:endParaRPr lang="en-US" sz="3200" b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6" name="Подзаголовок 2"/>
          <p:cNvSpPr txBox="1">
            <a:spLocks/>
          </p:cNvSpPr>
          <p:nvPr/>
        </p:nvSpPr>
        <p:spPr>
          <a:xfrm>
            <a:off x="7924799" y="3737812"/>
            <a:ext cx="3090606" cy="11339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ru-RU" sz="3200" b="1" dirty="0" smtClean="0">
                <a:solidFill>
                  <a:schemeClr val="tx1">
                    <a:lumMod val="75000"/>
                  </a:schemeClr>
                </a:solidFill>
              </a:rPr>
              <a:t>Евсеев Игорь </a:t>
            </a:r>
            <a:r>
              <a:rPr lang="ru-RU" sz="3200" b="1" dirty="0" err="1" smtClean="0">
                <a:solidFill>
                  <a:schemeClr val="tx1">
                    <a:lumMod val="75000"/>
                  </a:schemeClr>
                </a:solidFill>
              </a:rPr>
              <a:t>сергеевич</a:t>
            </a:r>
            <a:r>
              <a:rPr lang="ru-RU" sz="3200" b="1" dirty="0" smtClean="0">
                <a:solidFill>
                  <a:schemeClr val="tx1">
                    <a:lumMod val="75000"/>
                  </a:schemeClr>
                </a:solidFill>
              </a:rPr>
              <a:t> </a:t>
            </a:r>
            <a:endParaRPr lang="en-US" sz="3200" b="1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6093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83370" y="0"/>
            <a:ext cx="10090483" cy="1668379"/>
          </a:xfrm>
        </p:spPr>
        <p:txBody>
          <a:bodyPr/>
          <a:lstStyle/>
          <a:p>
            <a:r>
              <a:rPr lang="ru-RU" dirty="0" smtClean="0"/>
              <a:t>Участники команды</a:t>
            </a:r>
            <a:endParaRPr lang="en-US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617419" y="1668379"/>
            <a:ext cx="4884897" cy="1122207"/>
          </a:xfrm>
        </p:spPr>
        <p:txBody>
          <a:bodyPr>
            <a:normAutofit fontScale="85000" lnSpcReduction="20000"/>
          </a:bodyPr>
          <a:lstStyle/>
          <a:p>
            <a:pPr algn="ctr"/>
            <a:r>
              <a:rPr lang="ru-RU" sz="2800" b="1" dirty="0" smtClean="0">
                <a:solidFill>
                  <a:schemeClr val="tx1">
                    <a:lumMod val="75000"/>
                  </a:schemeClr>
                </a:solidFill>
              </a:rPr>
              <a:t>Головин Александр Евгеньевич</a:t>
            </a:r>
          </a:p>
          <a:p>
            <a:pPr algn="ctr"/>
            <a:r>
              <a:rPr lang="ru-RU" sz="2800" b="1" dirty="0" smtClean="0">
                <a:solidFill>
                  <a:srgbClr val="00B050"/>
                </a:solidFill>
              </a:rPr>
              <a:t>Программист-разработчик</a:t>
            </a: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422654" y="3737810"/>
            <a:ext cx="4598525" cy="21015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ru-RU" sz="3200" b="1" dirty="0" smtClean="0">
                <a:solidFill>
                  <a:schemeClr val="tx1">
                    <a:lumMod val="75000"/>
                  </a:schemeClr>
                </a:solidFill>
              </a:rPr>
              <a:t>Жихарев </a:t>
            </a:r>
            <a:r>
              <a:rPr lang="ru-RU" sz="3200" b="1" dirty="0">
                <a:solidFill>
                  <a:schemeClr val="tx1">
                    <a:lumMod val="75000"/>
                  </a:schemeClr>
                </a:solidFill>
              </a:rPr>
              <a:t>Александр</a:t>
            </a:r>
            <a:r>
              <a:rPr lang="ru-RU" sz="3200" b="1" dirty="0" smtClean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ru-RU" sz="3200" b="1" dirty="0" err="1" smtClean="0">
                <a:solidFill>
                  <a:schemeClr val="tx1">
                    <a:lumMod val="75000"/>
                  </a:schemeClr>
                </a:solidFill>
              </a:rPr>
              <a:t>никитич</a:t>
            </a:r>
            <a:endParaRPr lang="ru-RU" sz="3200" b="1" dirty="0" smtClean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ru-RU" sz="3200" b="1" dirty="0" smtClean="0">
                <a:solidFill>
                  <a:srgbClr val="00B050"/>
                </a:solidFill>
              </a:rPr>
              <a:t>Проектировщик системы</a:t>
            </a:r>
            <a:endParaRPr lang="en-US" sz="3200" b="1" dirty="0">
              <a:solidFill>
                <a:srgbClr val="00B050"/>
              </a:solidFill>
            </a:endParaRPr>
          </a:p>
        </p:txBody>
      </p:sp>
      <p:sp>
        <p:nvSpPr>
          <p:cNvPr id="6" name="Подзаголовок 2"/>
          <p:cNvSpPr txBox="1">
            <a:spLocks/>
          </p:cNvSpPr>
          <p:nvPr/>
        </p:nvSpPr>
        <p:spPr>
          <a:xfrm>
            <a:off x="7587917" y="3336758"/>
            <a:ext cx="4475746" cy="23528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ru-RU" sz="3200" b="1" dirty="0" smtClean="0">
                <a:solidFill>
                  <a:schemeClr val="tx1">
                    <a:lumMod val="75000"/>
                  </a:schemeClr>
                </a:solidFill>
              </a:rPr>
              <a:t>Евсеев Игорь </a:t>
            </a:r>
            <a:r>
              <a:rPr lang="ru-RU" sz="3200" b="1" dirty="0" err="1" smtClean="0">
                <a:solidFill>
                  <a:schemeClr val="tx1">
                    <a:lumMod val="75000"/>
                  </a:schemeClr>
                </a:solidFill>
              </a:rPr>
              <a:t>сергеевич</a:t>
            </a:r>
            <a:r>
              <a:rPr lang="ru-RU" sz="3200" b="1" dirty="0" smtClean="0">
                <a:solidFill>
                  <a:schemeClr val="tx1">
                    <a:lumMod val="75000"/>
                  </a:schemeClr>
                </a:solidFill>
              </a:rPr>
              <a:t> </a:t>
            </a:r>
          </a:p>
          <a:p>
            <a:pPr algn="ctr"/>
            <a:r>
              <a:rPr lang="ru-RU" sz="3200" b="1" dirty="0">
                <a:solidFill>
                  <a:srgbClr val="00B050"/>
                </a:solidFill>
              </a:rPr>
              <a:t>Специалист по тестированию </a:t>
            </a:r>
            <a:r>
              <a:rPr lang="ru-RU" sz="3200" b="1" dirty="0" smtClean="0">
                <a:solidFill>
                  <a:srgbClr val="00B050"/>
                </a:solidFill>
              </a:rPr>
              <a:t>системы</a:t>
            </a:r>
            <a:r>
              <a:rPr lang="en-US" sz="3200" b="1" dirty="0">
                <a:solidFill>
                  <a:srgbClr val="00B050"/>
                </a:solidFill>
              </a:rPr>
              <a:t> </a:t>
            </a:r>
            <a:r>
              <a:rPr lang="en-US" sz="3200" b="1" dirty="0" smtClean="0">
                <a:solidFill>
                  <a:srgbClr val="00B050"/>
                </a:solidFill>
              </a:rPr>
              <a:t>&amp;</a:t>
            </a:r>
            <a:br>
              <a:rPr lang="en-US" sz="3200" b="1" dirty="0" smtClean="0">
                <a:solidFill>
                  <a:srgbClr val="00B050"/>
                </a:solidFill>
              </a:rPr>
            </a:br>
            <a:r>
              <a:rPr lang="ru-RU" dirty="0" err="1"/>
              <a:t>Тимлид</a:t>
            </a:r>
            <a:r>
              <a:rPr lang="ru-RU" dirty="0"/>
              <a:t>-менеджер</a:t>
            </a:r>
            <a:endParaRPr lang="ru-RU" sz="3200" b="1" dirty="0" smtClean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9447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/>
          <p:cNvSpPr txBox="1">
            <a:spLocks/>
          </p:cNvSpPr>
          <p:nvPr/>
        </p:nvSpPr>
        <p:spPr>
          <a:xfrm>
            <a:off x="1427747" y="355572"/>
            <a:ext cx="6994358" cy="11339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ru-RU" sz="3200" b="1" dirty="0" smtClean="0">
                <a:solidFill>
                  <a:schemeClr val="tx1">
                    <a:lumMod val="75000"/>
                  </a:schemeClr>
                </a:solidFill>
              </a:rPr>
              <a:t>Руководитель команды: </a:t>
            </a:r>
            <a:r>
              <a:rPr lang="ru-RU" sz="3200" b="1" dirty="0" smtClean="0">
                <a:solidFill>
                  <a:srgbClr val="00B050"/>
                </a:solidFill>
              </a:rPr>
              <a:t>Евсеев Игорь </a:t>
            </a:r>
            <a:r>
              <a:rPr lang="ru-RU" sz="3200" b="1" dirty="0" err="1" smtClean="0">
                <a:solidFill>
                  <a:srgbClr val="00B050"/>
                </a:solidFill>
              </a:rPr>
              <a:t>сергеевич</a:t>
            </a:r>
            <a:r>
              <a:rPr lang="ru-RU" sz="3200" b="1" dirty="0" smtClean="0">
                <a:solidFill>
                  <a:srgbClr val="00B050"/>
                </a:solidFill>
              </a:rPr>
              <a:t> </a:t>
            </a:r>
            <a:endParaRPr lang="en-US" sz="3200" b="1" dirty="0">
              <a:solidFill>
                <a:srgbClr val="00B050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92739" y="2201597"/>
            <a:ext cx="74549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Общее количество задач в проекте</a:t>
            </a:r>
            <a:endParaRPr lang="en-US" sz="3600" b="1" dirty="0">
              <a:solidFill>
                <a:schemeClr val="tx1">
                  <a:lumMod val="65000"/>
                </a:schemeClr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8955476" y="2201597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22</a:t>
            </a:r>
            <a:endParaRPr lang="en-US" sz="3600" b="1" dirty="0">
              <a:solidFill>
                <a:srgbClr val="00B050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292739" y="2847928"/>
            <a:ext cx="57946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Число выполненных задач</a:t>
            </a:r>
            <a:endParaRPr lang="en-US" sz="3600" b="1" dirty="0">
              <a:solidFill>
                <a:schemeClr val="tx1">
                  <a:lumMod val="65000"/>
                </a:schemeClr>
              </a:solidFill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292739" y="3494259"/>
            <a:ext cx="666349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</a:rPr>
              <a:t>Число задач выполненных </a:t>
            </a:r>
            <a:r>
              <a:rPr lang="ru-RU" sz="3600" b="1" dirty="0" err="1" smtClean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</a:rPr>
              <a:t>р.к</a:t>
            </a:r>
            <a:r>
              <a:rPr lang="ru-RU" sz="3600" b="1" dirty="0" smtClean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</a:rPr>
              <a:t>.</a:t>
            </a:r>
            <a:endParaRPr lang="en-US" sz="3600" b="1" dirty="0">
              <a:solidFill>
                <a:schemeClr val="tx1">
                  <a:lumMod val="65000"/>
                </a:schemeClr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8996188" y="2847928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22</a:t>
            </a:r>
            <a:endParaRPr lang="en-US" sz="3600" b="1" dirty="0">
              <a:solidFill>
                <a:srgbClr val="00B050"/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9013444" y="3494259"/>
            <a:ext cx="4427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solidFill>
                  <a:srgbClr val="00B050"/>
                </a:solidFill>
              </a:rPr>
              <a:t>8</a:t>
            </a:r>
            <a:endParaRPr lang="en-US" sz="3600" b="1" dirty="0">
              <a:solidFill>
                <a:srgbClr val="00B050"/>
              </a:solidFill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292739" y="4140590"/>
            <a:ext cx="745499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chemeClr val="tx1">
                    <a:lumMod val="65000"/>
                  </a:schemeClr>
                </a:solidFill>
              </a:rPr>
              <a:t>процент от числа изначально запланированных задач</a:t>
            </a:r>
            <a:endParaRPr lang="en-US" sz="3200" b="1" dirty="0">
              <a:solidFill>
                <a:schemeClr val="tx1">
                  <a:lumMod val="65000"/>
                </a:schemeClr>
              </a:solidFill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9057266" y="4356033"/>
            <a:ext cx="135646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solidFill>
                  <a:srgbClr val="00B050"/>
                </a:solidFill>
              </a:rPr>
              <a:t>110%</a:t>
            </a:r>
            <a:endParaRPr lang="en-US" sz="36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1236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/>
          <p:cNvSpPr txBox="1">
            <a:spLocks/>
          </p:cNvSpPr>
          <p:nvPr/>
        </p:nvSpPr>
        <p:spPr>
          <a:xfrm>
            <a:off x="1427747" y="355572"/>
            <a:ext cx="6994358" cy="11339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ru-RU" sz="3200" b="1" dirty="0" smtClean="0">
                <a:solidFill>
                  <a:schemeClr val="tx1">
                    <a:lumMod val="75000"/>
                  </a:schemeClr>
                </a:solidFill>
              </a:rPr>
              <a:t>Проектировщик Системы </a:t>
            </a:r>
            <a:r>
              <a:rPr lang="ru-RU" sz="3200" b="1" dirty="0" smtClean="0">
                <a:solidFill>
                  <a:srgbClr val="00B050"/>
                </a:solidFill>
              </a:rPr>
              <a:t>ЖИХАРЕВ АЛЕКСАНДР НИКИТИЧ</a:t>
            </a:r>
            <a:endParaRPr lang="en-US" sz="3200" b="1" dirty="0">
              <a:solidFill>
                <a:srgbClr val="00B050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324823" y="1837276"/>
            <a:ext cx="57946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Число выполненных задач</a:t>
            </a:r>
            <a:endParaRPr lang="en-US" sz="3600" b="1" dirty="0">
              <a:solidFill>
                <a:schemeClr val="tx1">
                  <a:lumMod val="65000"/>
                </a:schemeClr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9114911" y="1837275"/>
            <a:ext cx="4427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rgbClr val="00B050"/>
                </a:solidFill>
              </a:rPr>
              <a:t>6</a:t>
            </a:r>
            <a:endParaRPr lang="en-US" sz="3600" b="1" dirty="0">
              <a:solidFill>
                <a:srgbClr val="00B050"/>
              </a:solidFill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324823" y="2599222"/>
            <a:ext cx="745499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chemeClr val="tx1">
                    <a:lumMod val="65000"/>
                  </a:schemeClr>
                </a:solidFill>
              </a:rPr>
              <a:t>процент от числа изначально запланированных задач</a:t>
            </a:r>
            <a:endParaRPr lang="en-US" sz="3200" b="1" dirty="0">
              <a:solidFill>
                <a:schemeClr val="tx1">
                  <a:lumMod val="65000"/>
                </a:schemeClr>
              </a:solidFill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8658055" y="2814665"/>
            <a:ext cx="135646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solidFill>
                  <a:srgbClr val="00B050"/>
                </a:solidFill>
              </a:rPr>
              <a:t>100%</a:t>
            </a:r>
            <a:endParaRPr lang="en-US" sz="3600" b="1" dirty="0">
              <a:solidFill>
                <a:srgbClr val="00B050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324823" y="4018948"/>
            <a:ext cx="745499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 smtClean="0">
                <a:solidFill>
                  <a:schemeClr val="tx1">
                    <a:lumMod val="65000"/>
                  </a:schemeClr>
                </a:solidFill>
              </a:rPr>
              <a:t>Цель работы: </a:t>
            </a:r>
            <a:r>
              <a:rPr lang="ru-RU" sz="3200" b="1" dirty="0" smtClean="0">
                <a:solidFill>
                  <a:srgbClr val="FFFF00"/>
                </a:solidFill>
              </a:rPr>
              <a:t>составление диаграмм, руководств, словаря данных и описание требований и функционала системы </a:t>
            </a:r>
            <a:endParaRPr lang="en-US" sz="32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3155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/>
          <p:cNvSpPr txBox="1">
            <a:spLocks/>
          </p:cNvSpPr>
          <p:nvPr/>
        </p:nvSpPr>
        <p:spPr>
          <a:xfrm>
            <a:off x="1427747" y="355572"/>
            <a:ext cx="8129914" cy="11339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ctr"/>
            <a:r>
              <a:rPr lang="ru-RU" sz="3200" b="1" dirty="0" smtClean="0">
                <a:solidFill>
                  <a:schemeClr val="tx1">
                    <a:lumMod val="75000"/>
                  </a:schemeClr>
                </a:solidFill>
              </a:rPr>
              <a:t>ПРОГРАММИСТ-РАЗРАБОТЧИК </a:t>
            </a:r>
            <a:r>
              <a:rPr lang="ru-RU" sz="3200" b="1" dirty="0" err="1" smtClean="0">
                <a:solidFill>
                  <a:srgbClr val="00B050"/>
                </a:solidFill>
              </a:rPr>
              <a:t>головин</a:t>
            </a:r>
            <a:r>
              <a:rPr lang="ru-RU" sz="3200" b="1" dirty="0" smtClean="0">
                <a:solidFill>
                  <a:srgbClr val="00B050"/>
                </a:solidFill>
              </a:rPr>
              <a:t> АЛЕКСАНДР ЕВГЕНЬЕВИЧ</a:t>
            </a:r>
            <a:endParaRPr lang="en-US" sz="3200" b="1" dirty="0">
              <a:solidFill>
                <a:srgbClr val="00B050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324823" y="1837276"/>
            <a:ext cx="57946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Число выполненных задач</a:t>
            </a:r>
            <a:endParaRPr lang="en-US" sz="3600" b="1" dirty="0">
              <a:solidFill>
                <a:schemeClr val="tx1">
                  <a:lumMod val="65000"/>
                </a:schemeClr>
              </a:solidFill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9114911" y="1853317"/>
            <a:ext cx="4427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solidFill>
                  <a:srgbClr val="00B050"/>
                </a:solidFill>
              </a:rPr>
              <a:t>7</a:t>
            </a:r>
            <a:endParaRPr lang="en-US" sz="3600" b="1" dirty="0">
              <a:solidFill>
                <a:srgbClr val="00B050"/>
              </a:solidFill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324823" y="2599222"/>
            <a:ext cx="745499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chemeClr val="tx1">
                    <a:lumMod val="65000"/>
                  </a:schemeClr>
                </a:solidFill>
              </a:rPr>
              <a:t>процент от числа изначально запланированных задач</a:t>
            </a:r>
            <a:endParaRPr lang="en-US" sz="3200" b="1" dirty="0">
              <a:solidFill>
                <a:schemeClr val="tx1">
                  <a:lumMod val="65000"/>
                </a:schemeClr>
              </a:solidFill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8658055" y="2814665"/>
            <a:ext cx="135646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solidFill>
                  <a:srgbClr val="00B050"/>
                </a:solidFill>
              </a:rPr>
              <a:t>105%</a:t>
            </a:r>
            <a:endParaRPr lang="en-US" sz="3600" b="1" dirty="0">
              <a:solidFill>
                <a:srgbClr val="00B050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324823" y="4018948"/>
            <a:ext cx="745499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 smtClean="0">
                <a:solidFill>
                  <a:schemeClr val="tx1">
                    <a:lumMod val="65000"/>
                  </a:schemeClr>
                </a:solidFill>
              </a:rPr>
              <a:t>Цель работы: </a:t>
            </a:r>
            <a:r>
              <a:rPr lang="ru-RU" sz="3200" b="1" dirty="0" smtClean="0">
                <a:solidFill>
                  <a:srgbClr val="FFFF00"/>
                </a:solidFill>
              </a:rPr>
              <a:t>Разработка общего функционала модулей, создание проекта и базы данных</a:t>
            </a:r>
            <a:endParaRPr lang="en-US" sz="32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75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02105" y="0"/>
            <a:ext cx="8229599" cy="1668379"/>
          </a:xfrm>
        </p:spPr>
        <p:txBody>
          <a:bodyPr/>
          <a:lstStyle/>
          <a:p>
            <a:r>
              <a:rPr lang="ru-RU" sz="4800" b="1" dirty="0" smtClean="0"/>
              <a:t>Описание функционала продукта</a:t>
            </a:r>
            <a:endParaRPr lang="en-US" sz="4800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17095" y="2566737"/>
            <a:ext cx="11261558" cy="3031958"/>
          </a:xfrm>
        </p:spPr>
        <p:txBody>
          <a:bodyPr>
            <a:noAutofit/>
          </a:bodyPr>
          <a:lstStyle/>
          <a:p>
            <a:r>
              <a:rPr lang="ru-RU" sz="2400" b="1" dirty="0"/>
              <a:t>Система «Автосалон» предоставляет два </a:t>
            </a:r>
            <a:r>
              <a:rPr lang="ru-RU" sz="2400" b="1" dirty="0" smtClean="0"/>
              <a:t>вида ролей</a:t>
            </a:r>
            <a:r>
              <a:rPr lang="ru-RU" sz="2400" b="1" dirty="0"/>
              <a:t/>
            </a:r>
            <a:br>
              <a:rPr lang="ru-RU" sz="2400" b="1" dirty="0"/>
            </a:br>
            <a:r>
              <a:rPr lang="ru-RU" sz="2400" b="1" dirty="0"/>
              <a:t>Администратор управляет каталогом автомобилей (добавление, </a:t>
            </a:r>
            <a:r>
              <a:rPr lang="ru-RU" sz="2400" b="1" dirty="0" smtClean="0"/>
              <a:t>редактирование), </a:t>
            </a:r>
            <a:r>
              <a:rPr lang="ru-RU" sz="2400" b="1" dirty="0"/>
              <a:t>списком клиентов (просмотр, поиск, </a:t>
            </a:r>
            <a:r>
              <a:rPr lang="ru-RU" sz="2400" b="1" dirty="0" smtClean="0"/>
              <a:t>удаление) </a:t>
            </a:r>
            <a:r>
              <a:rPr lang="ru-RU" sz="2400" b="1" dirty="0"/>
              <a:t>и продажами (добавление, </a:t>
            </a:r>
            <a:r>
              <a:rPr lang="ru-RU" sz="2400" b="1" dirty="0" smtClean="0"/>
              <a:t>просмотр).</a:t>
            </a:r>
            <a:r>
              <a:rPr lang="ru-RU" sz="2400" b="1" dirty="0"/>
              <a:t/>
            </a:r>
            <a:br>
              <a:rPr lang="ru-RU" sz="2400" b="1" dirty="0"/>
            </a:br>
            <a:r>
              <a:rPr lang="ru-RU" sz="2400" b="1" dirty="0"/>
              <a:t>Клиент только просматривает автомобили с фильтрацией по производителю, поиском и сортировкой.</a:t>
            </a:r>
            <a:endParaRPr lang="en-US" sz="24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0233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02105" y="0"/>
            <a:ext cx="8229599" cy="1668379"/>
          </a:xfrm>
        </p:spPr>
        <p:txBody>
          <a:bodyPr/>
          <a:lstStyle/>
          <a:p>
            <a:r>
              <a:rPr lang="en-US" sz="4800" b="1" dirty="0" smtClean="0"/>
              <a:t>ER-</a:t>
            </a:r>
            <a:r>
              <a:rPr lang="ru-RU" sz="4800" b="1" dirty="0" smtClean="0"/>
              <a:t>диаграмма</a:t>
            </a:r>
            <a:endParaRPr lang="en-US" sz="4800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17095" y="2566737"/>
            <a:ext cx="11261558" cy="3031958"/>
          </a:xfrm>
        </p:spPr>
        <p:txBody>
          <a:bodyPr>
            <a:noAutofit/>
          </a:bodyPr>
          <a:lstStyle/>
          <a:p>
            <a:r>
              <a:rPr lang="ru-RU" sz="2400" b="1" dirty="0"/>
              <a:t>Система «Автосалон» предоставляет два </a:t>
            </a:r>
            <a:r>
              <a:rPr lang="ru-RU" sz="2400" b="1" dirty="0" smtClean="0"/>
              <a:t>вида ролей</a:t>
            </a:r>
            <a:r>
              <a:rPr lang="ru-RU" sz="2400" b="1" dirty="0"/>
              <a:t/>
            </a:r>
            <a:br>
              <a:rPr lang="ru-RU" sz="2400" b="1" dirty="0"/>
            </a:br>
            <a:r>
              <a:rPr lang="ru-RU" sz="2400" b="1" dirty="0"/>
              <a:t>Администратор управляет каталогом автомобилей (добавление, </a:t>
            </a:r>
            <a:r>
              <a:rPr lang="ru-RU" sz="2400" b="1" dirty="0" smtClean="0"/>
              <a:t>редактирование), </a:t>
            </a:r>
            <a:r>
              <a:rPr lang="ru-RU" sz="2400" b="1" dirty="0"/>
              <a:t>списком клиентов (просмотр, поиск, </a:t>
            </a:r>
            <a:r>
              <a:rPr lang="ru-RU" sz="2400" b="1" dirty="0" smtClean="0"/>
              <a:t>удаление) </a:t>
            </a:r>
            <a:r>
              <a:rPr lang="ru-RU" sz="2400" b="1" dirty="0"/>
              <a:t>и продажами (добавление, </a:t>
            </a:r>
            <a:r>
              <a:rPr lang="ru-RU" sz="2400" b="1" dirty="0" smtClean="0"/>
              <a:t>просмотр).</a:t>
            </a:r>
            <a:r>
              <a:rPr lang="ru-RU" sz="2400" b="1" dirty="0"/>
              <a:t/>
            </a:r>
            <a:br>
              <a:rPr lang="ru-RU" sz="2400" b="1" dirty="0"/>
            </a:br>
            <a:r>
              <a:rPr lang="ru-RU" sz="2400" b="1" dirty="0"/>
              <a:t>Клиент только просматривает автомобили с фильтрацией по производителю, поиском и сортировкой.</a:t>
            </a:r>
            <a:endParaRPr lang="en-US" sz="24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434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02105" y="0"/>
            <a:ext cx="8229599" cy="1668379"/>
          </a:xfrm>
        </p:spPr>
        <p:txBody>
          <a:bodyPr/>
          <a:lstStyle/>
          <a:p>
            <a:r>
              <a:rPr lang="en-US" sz="4800" b="1" dirty="0" smtClean="0"/>
              <a:t>USE case </a:t>
            </a:r>
            <a:r>
              <a:rPr lang="ru-RU" sz="4800" b="1" dirty="0" smtClean="0"/>
              <a:t>диаграмма</a:t>
            </a:r>
            <a:endParaRPr lang="en-US" sz="4800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17095" y="2566737"/>
            <a:ext cx="11261558" cy="3031958"/>
          </a:xfrm>
        </p:spPr>
        <p:txBody>
          <a:bodyPr>
            <a:noAutofit/>
          </a:bodyPr>
          <a:lstStyle/>
          <a:p>
            <a:r>
              <a:rPr lang="ru-RU" sz="2400" b="1" dirty="0"/>
              <a:t>Система «Автосалон» предоставляет два </a:t>
            </a:r>
            <a:r>
              <a:rPr lang="ru-RU" sz="2400" b="1" dirty="0" smtClean="0"/>
              <a:t>вида ролей</a:t>
            </a:r>
            <a:r>
              <a:rPr lang="ru-RU" sz="2400" b="1" dirty="0"/>
              <a:t/>
            </a:r>
            <a:br>
              <a:rPr lang="ru-RU" sz="2400" b="1" dirty="0"/>
            </a:br>
            <a:r>
              <a:rPr lang="ru-RU" sz="2400" b="1" dirty="0"/>
              <a:t>Администратор управляет каталогом автомобилей (добавление, </a:t>
            </a:r>
            <a:r>
              <a:rPr lang="ru-RU" sz="2400" b="1" dirty="0" smtClean="0"/>
              <a:t>редактирование), </a:t>
            </a:r>
            <a:r>
              <a:rPr lang="ru-RU" sz="2400" b="1" dirty="0"/>
              <a:t>списком клиентов (просмотр, поиск, </a:t>
            </a:r>
            <a:r>
              <a:rPr lang="ru-RU" sz="2400" b="1" dirty="0" smtClean="0"/>
              <a:t>удаление) </a:t>
            </a:r>
            <a:r>
              <a:rPr lang="ru-RU" sz="2400" b="1" dirty="0"/>
              <a:t>и продажами (добавление, </a:t>
            </a:r>
            <a:r>
              <a:rPr lang="ru-RU" sz="2400" b="1" dirty="0" smtClean="0"/>
              <a:t>просмотр).</a:t>
            </a:r>
            <a:r>
              <a:rPr lang="ru-RU" sz="2400" b="1" dirty="0"/>
              <a:t/>
            </a:r>
            <a:br>
              <a:rPr lang="ru-RU" sz="2400" b="1" dirty="0"/>
            </a:br>
            <a:r>
              <a:rPr lang="ru-RU" sz="2400" b="1" dirty="0"/>
              <a:t>Клиент только просматривает автомобили с фильтрацией по производителю, поиском и сортировкой.</a:t>
            </a:r>
            <a:endParaRPr lang="en-US" sz="24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7054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02105" y="0"/>
            <a:ext cx="8229599" cy="1668379"/>
          </a:xfrm>
        </p:spPr>
        <p:txBody>
          <a:bodyPr/>
          <a:lstStyle/>
          <a:p>
            <a:r>
              <a:rPr lang="ru-RU" sz="4800" b="1" dirty="0" smtClean="0"/>
              <a:t>Скриншоты программного продукта</a:t>
            </a:r>
            <a:endParaRPr lang="en-US" sz="4800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17095" y="2566737"/>
            <a:ext cx="11261558" cy="3031958"/>
          </a:xfrm>
        </p:spPr>
        <p:txBody>
          <a:bodyPr>
            <a:noAutofit/>
          </a:bodyPr>
          <a:lstStyle/>
          <a:p>
            <a:r>
              <a:rPr lang="ru-RU" sz="2400" b="1" dirty="0"/>
              <a:t>Система «Автосалон» предоставляет два </a:t>
            </a:r>
            <a:r>
              <a:rPr lang="ru-RU" sz="2400" b="1" dirty="0" smtClean="0"/>
              <a:t>вида ролей</a:t>
            </a:r>
            <a:r>
              <a:rPr lang="ru-RU" sz="2400" b="1" dirty="0"/>
              <a:t/>
            </a:r>
            <a:br>
              <a:rPr lang="ru-RU" sz="2400" b="1" dirty="0"/>
            </a:br>
            <a:r>
              <a:rPr lang="ru-RU" sz="2400" b="1" dirty="0"/>
              <a:t>Администратор управляет каталогом автомобилей (добавление, </a:t>
            </a:r>
            <a:r>
              <a:rPr lang="ru-RU" sz="2400" b="1" dirty="0" smtClean="0"/>
              <a:t>редактирование), </a:t>
            </a:r>
            <a:r>
              <a:rPr lang="ru-RU" sz="2400" b="1" dirty="0"/>
              <a:t>списком клиентов (просмотр, поиск, </a:t>
            </a:r>
            <a:r>
              <a:rPr lang="ru-RU" sz="2400" b="1" dirty="0" smtClean="0"/>
              <a:t>удаление) </a:t>
            </a:r>
            <a:r>
              <a:rPr lang="ru-RU" sz="2400" b="1" dirty="0"/>
              <a:t>и продажами (добавление, </a:t>
            </a:r>
            <a:r>
              <a:rPr lang="ru-RU" sz="2400" b="1" dirty="0" smtClean="0"/>
              <a:t>просмотр).</a:t>
            </a:r>
            <a:r>
              <a:rPr lang="ru-RU" sz="2400" b="1" dirty="0"/>
              <a:t/>
            </a:r>
            <a:br>
              <a:rPr lang="ru-RU" sz="2400" b="1" dirty="0"/>
            </a:br>
            <a:r>
              <a:rPr lang="ru-RU" sz="2400" b="1" dirty="0"/>
              <a:t>Клиент только просматривает автомобили с фильтрацией по производителю, поиском и сортировкой.</a:t>
            </a:r>
            <a:endParaRPr lang="en-US" sz="24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0518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Ion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28</TotalTime>
  <Words>380</Words>
  <Application>Microsoft Office PowerPoint</Application>
  <PresentationFormat>Широкоэкранный</PresentationFormat>
  <Paragraphs>44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Calibri</vt:lpstr>
      <vt:lpstr>Century Gothic</vt:lpstr>
      <vt:lpstr>Times New Roman</vt:lpstr>
      <vt:lpstr>Wingdings 3</vt:lpstr>
      <vt:lpstr>Ион</vt:lpstr>
      <vt:lpstr>Авто-салон</vt:lpstr>
      <vt:lpstr>Введение</vt:lpstr>
      <vt:lpstr>Участники команды</vt:lpstr>
      <vt:lpstr>Участники команды</vt:lpstr>
      <vt:lpstr>Презентация PowerPoint</vt:lpstr>
      <vt:lpstr>Презентация PowerPoint</vt:lpstr>
      <vt:lpstr>Презентация PowerPoint</vt:lpstr>
      <vt:lpstr>Описание функционала продукта</vt:lpstr>
      <vt:lpstr>ER-диаграмма</vt:lpstr>
      <vt:lpstr>USE case диаграмма</vt:lpstr>
      <vt:lpstr>Скриншоты программного продукта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Авто-салон</dc:title>
  <dc:creator>student21</dc:creator>
  <cp:lastModifiedBy>student21</cp:lastModifiedBy>
  <cp:revision>3</cp:revision>
  <dcterms:created xsi:type="dcterms:W3CDTF">2026-04-02T09:35:58Z</dcterms:created>
  <dcterms:modified xsi:type="dcterms:W3CDTF">2026-04-02T10:04:35Z</dcterms:modified>
</cp:coreProperties>
</file>